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8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DELTA·V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Plane Observability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Horizon ended.  Where you might come in.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463040" cy="54864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DJ Gregor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v1.2.0-beta2 just shipped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Spring Boot daemons.  No Karaf.  No JMX MBeans.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2026-04-25 · pbrane/delta-v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deck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63040"/>
            <a:ext cx="73152" cy="4572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45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 left off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Karaf-hosted OSGi bundles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opennms-services.jar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Newts / Cassandra for time-series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JMX MBeans for instrumentation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ActiveMQ + ServiceMix bundles for IPC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3.x, javax.persistence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4.2.x (OpenNMS-patched)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463040"/>
            <a:ext cx="73152" cy="4572000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645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delta-v looks like now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224028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standalone Spring Boot 4 daemons (Java 21)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7, jakarta.persistence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Karaf, OSGi, opennms-services — all gone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for inter-daemon events + Minion IPC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 + Grafana for time-series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Micrometer + /actuator/prometheus for metrics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code consumed as pre-built JARs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26364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spc="400" kern="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 and DAOs are recognizably OpenNMS. Everything else is a clean-room refactor.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· v1.2.0-beta2 · 2026-04-25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1945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/ ICMP / Detect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+ Syslog listener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 / sFlow / IPFIX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collector.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all network I/O.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daemon ever polls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directly.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4389120"/>
            <a:ext cx="1645920" cy="411480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389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minion-boot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orchestrator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0" y="1371600"/>
            <a:ext cx="521208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1508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12 SPRING BOOT DAEMONS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965960"/>
            <a:ext cx="1097280" cy="411480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965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99432" y="1965960"/>
            <a:ext cx="1097280" cy="411480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1965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61304" y="1965960"/>
            <a:ext cx="1097280" cy="411480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61304" y="1965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23176" y="1965960"/>
            <a:ext cx="1097280" cy="411480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23176" y="1965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bsmd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514600"/>
            <a:ext cx="1097280" cy="411480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514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99432" y="2514600"/>
            <a:ext cx="1097280" cy="411480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2514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61304" y="2514600"/>
            <a:ext cx="1097280" cy="411480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2514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23176" y="2514600"/>
            <a:ext cx="1097280" cy="411480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23176" y="2514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enlinkd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3063240"/>
            <a:ext cx="1097280" cy="411480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063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99432" y="3063240"/>
            <a:ext cx="1097280" cy="411480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3063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61304" y="3063240"/>
            <a:ext cx="1097280" cy="411480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61304" y="3063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23176" y="3063240"/>
            <a:ext cx="1097280" cy="411480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23176" y="3063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eventtrans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91840" y="3703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= standalone JVM, /actuator/prometheus, Hibernate 7, Kafka client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37560" y="4983480"/>
            <a:ext cx="475488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 ·  Kafka  ·  Twin API  ·  Spring Boot Actuator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37560" y="5440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732520" y="1371600"/>
            <a:ext cx="3108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3252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961120" y="1965960"/>
            <a:ext cx="2651760" cy="502920"/>
          </a:xfrm>
          <a:prstGeom prst="rect">
            <a:avLst/>
          </a:prstGeom>
          <a:solidFill>
            <a:srgbClr val="FEEFE3"/>
          </a:solidFill>
          <a:ln w="6350">
            <a:solidFill>
              <a:srgbClr val="F2641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0" y="1965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deltav-timeseries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961120" y="2560320"/>
            <a:ext cx="2651760" cy="502920"/>
          </a:xfrm>
          <a:prstGeom prst="rect">
            <a:avLst/>
          </a:prstGeom>
          <a:solidFill>
            <a:srgbClr val="FEEFE3"/>
          </a:solidFill>
          <a:ln w="6350">
            <a:solidFill>
              <a:srgbClr val="F2641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61120" y="2560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prometheus-writer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→ remote-write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961120" y="3154680"/>
            <a:ext cx="2651760" cy="502920"/>
          </a:xfrm>
          <a:prstGeom prst="rect">
            <a:avLst/>
          </a:prstGeom>
          <a:solidFill>
            <a:srgbClr val="FEEFE3"/>
          </a:solidFill>
          <a:ln w="6350">
            <a:solidFill>
              <a:srgbClr val="F2641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0" y="3154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tsdb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961120" y="3749040"/>
            <a:ext cx="2651760" cy="502920"/>
          </a:xfrm>
          <a:prstGeom prst="rect">
            <a:avLst/>
          </a:prstGeom>
          <a:solidFill>
            <a:srgbClr val="FEEFE3"/>
          </a:solidFill>
          <a:ln w="6350">
            <a:solidFill>
              <a:srgbClr val="F2641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6112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961120" y="4480560"/>
            <a:ext cx="2651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8961120" y="4480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scraper / HPA  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(v1.3 — control plane)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697480" y="2560320"/>
            <a:ext cx="4114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108960" y="2834640"/>
            <a:ext cx="-4114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2240280" y="21488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IPC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240280" y="3063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(rc1/rc2: gRPC)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321040" y="5394960"/>
            <a:ext cx="411480" cy="0"/>
          </a:xfrm>
          <a:prstGeom prst="line">
            <a:avLst/>
          </a:prstGeom>
          <a:noFill/>
          <a:ln w="38100">
            <a:solidFill>
              <a:srgbClr val="F26419"/>
            </a:solidFill>
            <a:prstDash val="solid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7863840" y="4983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321040" y="256032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· v1.2.0-beta2 · 2026-04-25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TENANT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planes, two purposes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532120" cy="4663440"/>
          </a:xfrm>
          <a:prstGeom prst="rect">
            <a:avLst/>
          </a:prstGeom>
          <a:solidFill>
            <a:srgbClr val="E0F2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observability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daemons themselves are doing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prefix: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deltav_&lt;daemon&gt;_*</a:t>
            </a:r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(native Micrometer)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/actuator/prometheus</a:t>
            </a:r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each daemon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Consumer: </a:t>
            </a:r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K8s scraper / HPA-Adapter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dispatched, alarm-create rate, RPC duration p99, queue depth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212080"/>
            <a:ext cx="52578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34924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autoscaling decisions, not user dashboards.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1371600"/>
            <a:ext cx="5532120" cy="4663440"/>
          </a:xfrm>
          <a:prstGeom prst="rect">
            <a:avLst/>
          </a:prstGeom>
          <a:solidFill>
            <a:srgbClr val="FEEFE3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5544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187452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Monitored network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83680" y="23774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network being monitored is doing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926080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prefix: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26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opennms_*</a:t>
            </a:r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(translated from CollectionSet)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</a:t>
            </a:r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TimeseriesBatch protobuf → Kafka → VM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Consumer: </a:t>
            </a:r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Grafana, future thresholder, replaces Newts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response time, ifInOctets, BGP peer state, CPU load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5212080"/>
            <a:ext cx="5257800" cy="36576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534924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operator dashboards and SLOs.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26364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spc="400" kern="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never share a TSDB. VictoriaMetrics holds data plane only.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· v1.2.0-beta2 · 2026-04-25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WHAT WE INHERITED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horizon-metric bridge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code (now consumed as pre-built JARs from </a:t>
            </a:r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pbrane/delta-v-horizon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still emits its meters via Dropwizard </a:t>
            </a:r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MetricRegistry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Spring Boot speaks Micrometer. Bridge between the two without editing horizon source.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468880"/>
            <a:ext cx="352044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33472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 Dropwizard meter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OnmsAlarm.created counter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MetricRegistry.counter(...).inc()  in horizon source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41648" y="3154680"/>
            <a:ext cx="2834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43400" y="246888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2468880"/>
            <a:ext cx="352044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2633472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HorizonMetricsBridge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MeterBinder + MetricRegistryListener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26280" y="3337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each Dropwizard meter into a Micrometer meter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82128" y="3154680"/>
            <a:ext cx="2834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83880" y="246888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83880" y="2468880"/>
            <a:ext cx="3520440" cy="64008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2633472"/>
            <a:ext cx="457200" cy="457200"/>
          </a:xfrm>
          <a:prstGeom prst="ellipse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6968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/actuator/prometheus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6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scrape-target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66760" y="3337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as opennms_&lt;...&gt;_total{tag="..."}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206240"/>
            <a:ext cx="11338560" cy="1828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206240"/>
            <a:ext cx="73152" cy="1828800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389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in parallel:  the deltav_* native side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7240" y="4892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6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deltav_&lt;daemon&gt;_*</a:t>
            </a:r>
            <a:pPr indent="0" marL="0">
              <a:buNone/>
            </a:pPr>
            <a:r>
              <a:rPr lang="en-US" sz="1300" dirty="0">
                <a:solidFill>
                  <a:srgbClr val="B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counters are Micrometer-native — added directly in delta-v code via 5 reusable hook idioms (next slide). They live alongside the bridged </a:t>
            </a:r>
            <a:pPr indent="0" marL="0">
              <a:buNone/>
            </a:pPr>
            <a:r>
              <a:rPr lang="en-US" sz="1300" dirty="0">
                <a:solidFill>
                  <a:srgbClr val="B7C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opennms_*</a:t>
            </a:r>
            <a:pPr indent="0" marL="0">
              <a:buNone/>
            </a:pPr>
            <a:r>
              <a:rPr lang="en-US" sz="1300" dirty="0">
                <a:solidFill>
                  <a:srgbClr val="B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meters, so the same daemon's </a:t>
            </a:r>
            <a:pPr indent="0" marL="0">
              <a:buNone/>
            </a:pPr>
            <a:r>
              <a:rPr lang="en-US" sz="1300" dirty="0">
                <a:solidFill>
                  <a:srgbClr val="B7C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/actuator/prometheus</a:t>
            </a:r>
            <a:pPr indent="0" marL="0">
              <a:buNone/>
            </a:pPr>
            <a:r>
              <a:rPr lang="en-US" sz="1300" dirty="0">
                <a:solidFill>
                  <a:srgbClr val="B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emits both. The two-prefix convention lets ops tell which side a meter came from at a glance.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· v1.2.0-beta2 · 2026-04-25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PATTERN LIBRARY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idioms across thirteen daemons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Boot4 daemons all wrap horizon classes. Each instrumentation hook fits one of these five patterns. Discovered empirically while shipping v1.2.0-beta2; codified afterward as a reusable cheat sheet.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21284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240280"/>
            <a:ext cx="2212848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688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No-op listener replace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1755648" cy="292608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9319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434340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anonymous no-op Listener {} with a named CountingX impl.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56235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as a null-op stub fix.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2240280"/>
            <a:ext cx="221284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834640" y="2240280"/>
            <a:ext cx="2212848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4688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2971800" y="324612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 wrap inline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063240" y="3931920"/>
            <a:ext cx="1755648" cy="292608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39319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bsmd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0" y="434340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@Bean-returned lambda with Timer.record() + counters in the @Bean method itself.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56235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files.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66360" y="2240280"/>
            <a:ext cx="221284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66360" y="2240280"/>
            <a:ext cx="2212848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4688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5303520" y="324612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Subclass horizon class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394960" y="3931920"/>
            <a:ext cx="1755648" cy="292608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39319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pollerd, trapd, syslogd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49240" y="434340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horizon class, override entry method, increment counters, call super.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56235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public seam is clean.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2240280"/>
            <a:ext cx="221284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98080" y="2240280"/>
            <a:ext cx="2212848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24688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7635240" y="324612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Decorator on choke point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726680" y="3931920"/>
            <a:ext cx="1755648" cy="292608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26680" y="39319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enlinkd, provisiond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80960" y="434340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 implementations all funnel through one interface, wrap the interface once.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80960" y="56235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wrap covers all N.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829800" y="2240280"/>
            <a:ext cx="221284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829800" y="2240280"/>
            <a:ext cx="2212848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29800" y="24688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41" name="Text 39"/>
          <p:cNvSpPr/>
          <p:nvPr/>
        </p:nvSpPr>
        <p:spPr>
          <a:xfrm>
            <a:off x="9966960" y="324612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BeanPostProcessor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0058400" y="3931920"/>
            <a:ext cx="1755648" cy="292608"/>
          </a:xfrm>
          <a:prstGeom prst="rect">
            <a:avLst/>
          </a:prstGeom>
          <a:solidFill>
            <a:srgbClr val="E0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0" y="39319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minion-boot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012680" y="434340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Auto-wrap every bean of type X. For open-ended sets (RpcModules, listeners).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012680" y="56235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" y="626364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400" kern="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feedback_daemon_instrumentation_patterns — bytecode-audit horizon's class first, then pick the idiom. No 6th idiom needed across all 13.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· v1.2.0-beta2 · 2026-04-25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v1.2.0-beta2 STATE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plane carries today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Producers → deltav-timeseries Kafka topic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943600" cy="777240"/>
          </a:xfrm>
          <a:prstGeom prst="rect">
            <a:avLst/>
          </a:prstGeom>
          <a:solidFill>
            <a:srgbClr val="FEEFE3"/>
          </a:solidFill>
          <a:ln w="9525">
            <a:solidFill>
              <a:srgbClr val="F264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v1.1.x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CollectionSets per scheduled poll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5943600" cy="777240"/>
          </a:xfrm>
          <a:prstGeom prst="rect">
            <a:avLst/>
          </a:prstGeom>
          <a:solidFill>
            <a:srgbClr val="FEEFE3"/>
          </a:solidFill>
          <a:ln w="9525">
            <a:solidFill>
              <a:srgbClr val="F264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pollerd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v1.2.0-beta2 (just shipped)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/ TCP / HTTP response-time samples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5943600" cy="777240"/>
          </a:xfrm>
          <a:prstGeom prst="rect">
            <a:avLst/>
          </a:prstGeom>
          <a:solidFill>
            <a:srgbClr val="F4F7FA"/>
          </a:solidFill>
          <a:ln w="9525">
            <a:solidFill>
              <a:srgbClr val="64748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perspectivepollerd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post-beta2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3 deferred)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480560"/>
            <a:ext cx="5943600" cy="777240"/>
          </a:xfrm>
          <a:prstGeom prst="rect">
            <a:avLst/>
          </a:prstGeom>
          <a:solidFill>
            <a:srgbClr val="F4F7FA"/>
          </a:solidFill>
          <a:ln w="9525">
            <a:solidFill>
              <a:srgbClr val="64748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40080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minion-snmp-collector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846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(future)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evidence — Apr 25 smoke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66560" y="1874520"/>
            <a:ext cx="5120640" cy="4114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01168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-sG 'localhost:18428/api/v1/query'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B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--data-urlencode 'query={producer="pollerd"}'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"success",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 "resultType": "vector",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"result": [{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"metric":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6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"__name__": "opennms_response_time_response",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6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"producer": "pollerd",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"location": "l8opensim-lab",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"node_label": "lab-01-core-rtr-01",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"foreign_source": "l8opensim-lab",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"collection_package": "ICMP",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"resource_type": "monitoredService"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"value": [ 1745604821, "3.2"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 } }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626364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spc="400" kern="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metric name across producers; </a:t>
            </a:r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producer=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label distinguishes them.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· v1.2.0-beta2 · 2026-04-25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HORIZON MENTAL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Familiar / unfamiliar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4754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in delta-v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for 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model (OnmsNode, OnmsAlarm, ...)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classes, jakarta.persistence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Annotations updated; semantics unchanged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interfaces, JPA-based impls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Hibernate 7 / Jakarta; HQL queries preserved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Daemon classes (Pollerd, Alarmd, ...)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as horizon JARs; subclassed in Boot4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AbstractServiceDaemon → SmartLifecycle adapter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EventBuilder, EventForwarder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the API; Kafka is the transport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more EventBus, no more Eventd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OSGi / Karaf / Blueprint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4 @Configuration replaces blueprint XML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JMX MBeans for instrumentation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Largely replaced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Actuator + Micrometer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Newts / Cassandra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VictoriaMetrics + Kafka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ActiveMQ / ServiceMix / camel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Going (rc1/rc2)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 migration removes the last refs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4.2.x (OpenNMS-patched)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7 / Spring Boot 4.0.3, Java 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26364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scan: </a:t>
            </a:r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class lives in </a:t>
            </a:r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org.opennms.netmgt.*</a:t>
            </a:r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treat it as familiar. If it lives in </a:t>
            </a:r>
            <a:pPr indent="0" marL="0">
              <a:buNone/>
            </a:pPr>
            <a:r>
              <a:rPr lang="en-US" sz="1200" i="1" dirty="0">
                <a:solidFill>
                  <a:srgbClr val="F26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org.deltav.*</a:t>
            </a:r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it's new code we own.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· v1.2.0-beta2 · 2026-04-25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v1.2 closes, where v1.3 begins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051560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732788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9679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alpha1-3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-228600" y="960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images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732788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4328" y="179679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29968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64208" y="960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horizon-metric bridge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42816" y="1732788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06824" y="179679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12464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46704" y="960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metrics + Pollerd P3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51092" y="1732788"/>
            <a:ext cx="237744" cy="237744"/>
          </a:xfrm>
          <a:prstGeom prst="ellipse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074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2074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54980" y="960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Minion gRPC midpoint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54212" y="1732788"/>
            <a:ext cx="237744" cy="23774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2386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2386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58100" y="960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complete · Kafka removed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137392" y="1732788"/>
            <a:ext cx="237744" cy="23774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v1.2.0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60704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3291840"/>
            <a:ext cx="55778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3291840"/>
            <a:ext cx="5577840" cy="64008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4747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rc1 / rc2 — Minion gRPC migration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40080" y="406908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Kafka-based RPC + Sink with gRPC, </a:t>
            </a:r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fronted by Spring Cloud Gateway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Heartbeat-first migration in rc1 (parallel Kafka + gRPC).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rc2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removes Kafka IPC entirely, purges 32 ActiveMQ + ServiceMix bundles, retires the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Minion location.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becomes the single ingress for any future HTTP UI too.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63640" y="3291840"/>
            <a:ext cx="55778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3291840"/>
            <a:ext cx="557784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4747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v1.3 — K8s operator + HPA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400800" y="406908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plane built in v1.2 finally gets a consumer.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scrapes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deltav_&lt;daemon&gt;_*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each pod's actuator and feeds HPA v2.  </a:t>
            </a:r>
            <a:pPr indent="0" marL="0">
              <a:spcAft>
                <a:spcPts val="600"/>
              </a:spcAft>
              <a:buNone/>
            </a:pP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 on queue depth and RPC p99,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CPU and memory (which lag the actual signal).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Nephron with Spring Cloud Stream consumers; YAML config migration.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· v1.2.0-beta2 · 2026-04-25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MIGHT PLUG IN</a:t>
            </a:r>
            <a:pPr indent="0" marL="0">
              <a:buNone/>
            </a:pPr>
            <a:r>
              <a:rPr lang="en-US" sz="1200" b="1" spc="400" kern="0" dirty="0">
                <a:solidFill>
                  <a:srgbClr val="6B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pPr indent="0" marL="0">
              <a:buNone/>
            </a:pPr>
            <a:r>
              <a:rPr lang="en-US" sz="1200" b="1" i="1" spc="400" kern="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back, DJ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 observability surfaces with room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703320" cy="4297680"/>
          </a:xfrm>
          <a:prstGeom prst="rect">
            <a:avLst/>
          </a:prstGeom>
          <a:solidFill>
            <a:srgbClr val="2C3674"/>
          </a:solidFill>
          <a:ln w="6350">
            <a:solidFill>
              <a:srgbClr val="3B488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3703320" cy="64008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7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HPA-grade metric semantics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~80 deltav_* counters across 13 daemons. Which 5 should HPA-Adapter expose to a K8s scaling policy? What's the right histogram bucket choice for RPC duration? What thresholds matter and which are noise?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440680"/>
            <a:ext cx="3246120" cy="36576"/>
          </a:xfrm>
          <a:prstGeom prst="rect">
            <a:avLst/>
          </a:prstGeom>
          <a:solidFill>
            <a:srgbClr val="3B4889"/>
          </a:solidFill>
          <a:ln w="12700">
            <a:solidFill>
              <a:srgbClr val="3B48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532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call: bring the operator perspective to a metric set that's currently a developer's-eye view.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703320" cy="4297680"/>
          </a:xfrm>
          <a:prstGeom prst="rect">
            <a:avLst/>
          </a:prstGeom>
          <a:solidFill>
            <a:srgbClr val="2C3674"/>
          </a:solidFill>
          <a:ln w="6350">
            <a:solidFill>
              <a:srgbClr val="3B48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828800"/>
            <a:ext cx="3703320" cy="64008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057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NEPHRON REPLACEMENT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4688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Cloud Stream Thresholder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370332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kafka-timeseries pipeline lands in VictoriaMetrics today; nothing yet consumes it for thresholding. Design as an SCS consumer with standard-deviation rules, replacing horizon's inline ThresholdingVisitor.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5440680"/>
            <a:ext cx="3246120" cy="36576"/>
          </a:xfrm>
          <a:prstGeom prst="rect">
            <a:avLst/>
          </a:prstGeom>
          <a:solidFill>
            <a:srgbClr val="3B4889"/>
          </a:solidFill>
          <a:ln w="12700">
            <a:solidFill>
              <a:srgbClr val="3B48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5532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design space; existing TimeseriesBatch protobuf is the input contract.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75320" y="1828800"/>
            <a:ext cx="3703320" cy="4297680"/>
          </a:xfrm>
          <a:prstGeom prst="rect">
            <a:avLst/>
          </a:prstGeom>
          <a:solidFill>
            <a:srgbClr val="2C3674"/>
          </a:solidFill>
          <a:ln w="6350">
            <a:solidFill>
              <a:srgbClr val="3B488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1828800"/>
            <a:ext cx="3703320" cy="64008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057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24688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OpenTelemetry on the gRPC migration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03920" y="370332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Minion → Core gRPC migration in v1.2-rc1/rc2 gives us per-call tracing for free. The deployment-layer question (Tempo? Jaeger? Grafana Cloud?) is open. So is the span model: which propagation context flows through TimeseriesBatch?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5440680"/>
            <a:ext cx="3246120" cy="36576"/>
          </a:xfrm>
          <a:prstGeom prst="rect">
            <a:avLst/>
          </a:prstGeom>
          <a:solidFill>
            <a:srgbClr val="3B4889"/>
          </a:solidFill>
          <a:ln w="12700">
            <a:solidFill>
              <a:srgbClr val="3B48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5532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on a v1.2-rc1 schedule, so the timing is right.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· v1.2.0-beta2 · 2026-04-25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Delta-V Control Plane Observability — for DJ</dc:title>
  <dc:subject>PptxGenJS Presentation</dc:subject>
  <dc:creator>Delta-V</dc:creator>
  <cp:lastModifiedBy>Delta-V</cp:lastModifiedBy>
  <cp:revision>1</cp:revision>
  <dcterms:created xsi:type="dcterms:W3CDTF">2026-04-25T17:53:20Z</dcterms:created>
  <dcterms:modified xsi:type="dcterms:W3CDTF">2026-04-25T17:53:20Z</dcterms:modified>
</cp:coreProperties>
</file>